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2" r:id="rId3"/>
    <p:sldId id="279" r:id="rId4"/>
    <p:sldId id="257" r:id="rId5"/>
    <p:sldId id="276" r:id="rId6"/>
    <p:sldId id="281" r:id="rId7"/>
    <p:sldId id="282" r:id="rId8"/>
    <p:sldId id="283" r:id="rId9"/>
    <p:sldId id="258" r:id="rId10"/>
    <p:sldId id="262" r:id="rId11"/>
    <p:sldId id="263" r:id="rId12"/>
    <p:sldId id="264" r:id="rId13"/>
    <p:sldId id="265" r:id="rId14"/>
    <p:sldId id="277" r:id="rId15"/>
    <p:sldId id="274" r:id="rId16"/>
    <p:sldId id="278" r:id="rId17"/>
    <p:sldId id="266" r:id="rId18"/>
    <p:sldId id="267" r:id="rId19"/>
    <p:sldId id="269" r:id="rId20"/>
    <p:sldId id="270" r:id="rId21"/>
    <p:sldId id="259" r:id="rId22"/>
    <p:sldId id="260" r:id="rId23"/>
    <p:sldId id="286" r:id="rId24"/>
    <p:sldId id="287" r:id="rId25"/>
    <p:sldId id="288" r:id="rId26"/>
    <p:sldId id="261" r:id="rId27"/>
    <p:sldId id="273" r:id="rId28"/>
    <p:sldId id="289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2E8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F2E5B-D07D-4CD2-B00B-AF537EB450D0}" v="468" dt="2026-01-10T18:04:19.416"/>
    <p1510:client id="{9F9B7065-EEB7-9C3A-1560-60A0FBA95690}" v="122" dt="2026-01-10T18:01:31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995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1D60-9E58-826B-3895-61CB70E9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7AD49-901A-4045-67C7-D678A15F6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08850-B35F-1B42-0F54-3646A1D0F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D80B8-E105-3158-15C6-A973C64CE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8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4FF1-54BE-A634-AE6D-97FC1C1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2D21D-ED81-7874-FCA7-85D1B8B84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78676-685A-58A7-64B8-7090E99FA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8A6D2-5751-BE04-DD17-1C773FD430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89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17A8-773E-52B2-0313-3D76BD20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D45C2-8239-B7B9-AC1F-26836609E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16C53-B10C-F325-74E0-20C37C076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F2550-9192-FDF0-6892-3C009C55C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5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E280-928B-2197-4050-17C224460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71A-905B-D824-75FF-B933D76CC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00D6B-ED6F-5BA4-E906-2070E9817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06841-8168-C2E8-F2AF-BFA54F376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02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C2C94-A8CD-5B66-37F4-E5EA67E7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60784-C158-8C10-931A-17DFBF47D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15F81-2740-D79D-706C-798616DE1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39E63-EF53-B932-4C70-7373034FD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26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17F8-D33B-25D9-3A91-74636941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2F4DB-8D08-792E-9215-9CE912416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A8E6A-A03A-C0B7-6180-8C86728B8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FF6CD-E80F-30AB-94E4-7200BA6A3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18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F420-1D62-B685-6E80-01AD3585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16D8E-2C54-B66B-0EEE-E7E8E93B7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54932-FC23-697F-BEE8-4D9A773C0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B4EB1-F1C8-A9B2-BD4D-721C867ED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00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5F41-4AB1-0083-BA00-D726125D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0B1D8-6106-1816-99EC-C9480204C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BBD87-F11E-41E0-3603-F2F94B710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20A97-42E6-0846-01D2-5DB8702D2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80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FA21-DC5A-34FF-9F67-45422B70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D6CF8-3C48-4B16-249B-77902DBFB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F9701-B405-A171-5A8E-998B3450D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1351F-2D05-BC0C-2747-408500DAC3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66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02" y="1463040"/>
            <a:ext cx="7768144" cy="1539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n-US" sz="4000" b="1" dirty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Implementation of a Manchester Encoding System</a:t>
            </a:r>
          </a:p>
        </p:txBody>
      </p:sp>
      <p:sp>
        <p:nvSpPr>
          <p:cNvPr id="3" name="Text 1"/>
          <p:cNvSpPr/>
          <p:nvPr/>
        </p:nvSpPr>
        <p:spPr>
          <a:xfrm>
            <a:off x="1087705" y="3291116"/>
            <a:ext cx="7054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of</a:t>
            </a:r>
            <a:r>
              <a:rPr lang="en-US" b="1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Communication Sessional.</a:t>
            </a:r>
            <a:endParaRPr lang="en-US" sz="18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4C402-DE4B-5AA9-B3F5-D53D17DB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293B3E-B6D6-5905-7D0D-6C0EC1F5B265}"/>
              </a:ext>
            </a:extLst>
          </p:cNvPr>
          <p:cNvSpPr/>
          <p:nvPr/>
        </p:nvSpPr>
        <p:spPr>
          <a:xfrm>
            <a:off x="609600" y="1577221"/>
            <a:ext cx="3848100" cy="12077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9C5C6-8B93-DE07-2FBF-505D9387F5A1}"/>
              </a:ext>
            </a:extLst>
          </p:cNvPr>
          <p:cNvSpPr/>
          <p:nvPr/>
        </p:nvSpPr>
        <p:spPr>
          <a:xfrm>
            <a:off x="4686300" y="1577221"/>
            <a:ext cx="3848100" cy="12077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1B7777-8953-588C-C13E-89AF465EE779}"/>
              </a:ext>
            </a:extLst>
          </p:cNvPr>
          <p:cNvSpPr/>
          <p:nvPr/>
        </p:nvSpPr>
        <p:spPr>
          <a:xfrm>
            <a:off x="609600" y="3013561"/>
            <a:ext cx="3848100" cy="104581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59978C-2D5D-A2D0-4A2A-E6CCDBFB71D4}"/>
              </a:ext>
            </a:extLst>
          </p:cNvPr>
          <p:cNvSpPr/>
          <p:nvPr/>
        </p:nvSpPr>
        <p:spPr>
          <a:xfrm>
            <a:off x="4686300" y="3013561"/>
            <a:ext cx="3848100" cy="104581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30D0D8-CE91-3BBF-C2C5-79D3E13C44D9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Team Members</a:t>
            </a:r>
            <a:endParaRPr lang="en-US" sz="2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F12418-02E7-4260-C910-83D99D53974D}"/>
              </a:ext>
            </a:extLst>
          </p:cNvPr>
          <p:cNvSpPr/>
          <p:nvPr/>
        </p:nvSpPr>
        <p:spPr>
          <a:xfrm>
            <a:off x="838200" y="183630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2000" b="1" dirty="0">
                <a:solidFill>
                  <a:srgbClr val="38BDF8"/>
                </a:solidFill>
              </a:rPr>
              <a:t>Arpan Paul Sanju 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3FE4A6-4C8D-A678-0727-632108DAB198}"/>
              </a:ext>
            </a:extLst>
          </p:cNvPr>
          <p:cNvSpPr/>
          <p:nvPr/>
        </p:nvSpPr>
        <p:spPr>
          <a:xfrm>
            <a:off x="838200" y="2214223"/>
            <a:ext cx="3390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chemeClr val="bg1"/>
                </a:solidFill>
              </a:rPr>
              <a:t>ID: 2102021</a:t>
            </a:r>
            <a:endParaRPr lang="en-US" sz="2000" b="1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7F8D0525-C0EE-C4CF-F986-539AC724A7BA}"/>
              </a:ext>
            </a:extLst>
          </p:cNvPr>
          <p:cNvSpPr/>
          <p:nvPr/>
        </p:nvSpPr>
        <p:spPr>
          <a:xfrm>
            <a:off x="4914900" y="183630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2000" b="1" dirty="0" err="1">
                <a:solidFill>
                  <a:srgbClr val="38BDF8"/>
                </a:solidFill>
              </a:rPr>
              <a:t>Meherin</a:t>
            </a:r>
            <a:r>
              <a:rPr lang="en-US" sz="2000" b="1" dirty="0">
                <a:solidFill>
                  <a:srgbClr val="38BDF8"/>
                </a:solidFill>
              </a:rPr>
              <a:t> </a:t>
            </a:r>
            <a:r>
              <a:rPr lang="en-US" sz="2000" b="1" dirty="0" err="1">
                <a:solidFill>
                  <a:srgbClr val="38BDF8"/>
                </a:solidFill>
              </a:rPr>
              <a:t>Mashri</a:t>
            </a:r>
            <a:r>
              <a:rPr lang="en-US" sz="2000" b="1" dirty="0">
                <a:solidFill>
                  <a:srgbClr val="38BDF8"/>
                </a:solidFill>
              </a:rPr>
              <a:t> </a:t>
            </a:r>
            <a:r>
              <a:rPr lang="en-US" sz="2000" b="1" dirty="0" err="1">
                <a:solidFill>
                  <a:srgbClr val="38BDF8"/>
                </a:solidFill>
              </a:rPr>
              <a:t>Nijum</a:t>
            </a:r>
            <a:r>
              <a:rPr lang="en-US" sz="2000" b="1" dirty="0">
                <a:solidFill>
                  <a:srgbClr val="38BDF8"/>
                </a:solidFill>
              </a:rPr>
              <a:t> 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676E6E5-ABCE-FDEE-A5B5-46EE67B8B7C1}"/>
              </a:ext>
            </a:extLst>
          </p:cNvPr>
          <p:cNvSpPr/>
          <p:nvPr/>
        </p:nvSpPr>
        <p:spPr>
          <a:xfrm>
            <a:off x="4914900" y="2214223"/>
            <a:ext cx="3390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chemeClr val="bg1"/>
                </a:solidFill>
              </a:rPr>
              <a:t>ID: 2102023</a:t>
            </a:r>
            <a:endParaRPr lang="en-US" sz="2000" b="1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69469C1-D287-2E8C-9D02-F192120327C0}"/>
              </a:ext>
            </a:extLst>
          </p:cNvPr>
          <p:cNvSpPr/>
          <p:nvPr/>
        </p:nvSpPr>
        <p:spPr>
          <a:xfrm>
            <a:off x="838200" y="3167104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2000" b="1" dirty="0">
                <a:solidFill>
                  <a:srgbClr val="38BDF8"/>
                </a:solidFill>
              </a:rPr>
              <a:t>Abir Ahmed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171B364-680C-F3A9-FFDE-B95CFC52BB1D}"/>
              </a:ext>
            </a:extLst>
          </p:cNvPr>
          <p:cNvSpPr/>
          <p:nvPr/>
        </p:nvSpPr>
        <p:spPr>
          <a:xfrm>
            <a:off x="838200" y="3545026"/>
            <a:ext cx="3390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chemeClr val="bg1"/>
                </a:solidFill>
              </a:rPr>
              <a:t>ID: 2102024</a:t>
            </a:r>
            <a:endParaRPr lang="en-US" sz="2000" b="1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463AA25-7DD3-E76F-0C3D-2930C21CCA14}"/>
              </a:ext>
            </a:extLst>
          </p:cNvPr>
          <p:cNvSpPr/>
          <p:nvPr/>
        </p:nvSpPr>
        <p:spPr>
          <a:xfrm>
            <a:off x="4935220" y="3187424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0"/>
              </a:lnSpc>
            </a:pPr>
            <a:r>
              <a:rPr lang="en-US" sz="2000" b="1" dirty="0">
                <a:solidFill>
                  <a:srgbClr val="38BDF8"/>
                </a:solidFill>
              </a:rPr>
              <a:t>Md. Anas Bin Hossain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77046C19-BE73-8F83-CB51-200377090475}"/>
              </a:ext>
            </a:extLst>
          </p:cNvPr>
          <p:cNvSpPr/>
          <p:nvPr/>
        </p:nvSpPr>
        <p:spPr>
          <a:xfrm>
            <a:off x="4935220" y="3565346"/>
            <a:ext cx="3390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chemeClr val="bg1"/>
                </a:solidFill>
              </a:rPr>
              <a:t>ID: 2102029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84457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948BC-E84C-CCB2-3120-2AFFFE8EA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8409C2-B220-3A3B-5A3B-DCFD4FCEEF0F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Encoding?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A6E0A8-1F39-2B6A-35B7-DE957E736570}"/>
              </a:ext>
            </a:extLst>
          </p:cNvPr>
          <p:cNvSpPr/>
          <p:nvPr/>
        </p:nvSpPr>
        <p:spPr>
          <a:xfrm>
            <a:off x="609597" y="1249561"/>
            <a:ext cx="8352973" cy="188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 process of converting information from one form to another.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CODING is a specific type of Encoding.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Converts binary data (0s and 1s) into electrical/optical signals.</a:t>
            </a:r>
          </a:p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Line coding 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the process of converting digital data into digital signals for transmission.</a:t>
            </a:r>
          </a:p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5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Line Coding in Communication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97" y="1249561"/>
            <a:ext cx="8352973" cy="188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B5234-B730-0B73-A5F8-47CA92ABF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4676"/>
            <a:ext cx="7943223" cy="30606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4B797-2E9D-B54F-ACAB-EA63AE41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8A286F-DE82-C620-D30F-6FD463D0D78F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Manchester Encoding?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0937C6-956D-971D-7EEA-7928C12CA2B1}"/>
              </a:ext>
            </a:extLst>
          </p:cNvPr>
          <p:cNvSpPr/>
          <p:nvPr/>
        </p:nvSpPr>
        <p:spPr>
          <a:xfrm>
            <a:off x="609597" y="1087782"/>
            <a:ext cx="8352973" cy="1885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synchronous clock-encoding technique that combines data and clock signals into one bitstream.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Self-Clocking: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clock signal is embedded in the data, eliminating need for separate clock line.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Transition-Based: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is represented by transitions (high-to-low or low-to-high) at bit center.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802.3 Standard: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Logic 0 = high-to-low transition; Logic 1 = low-to-high.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G.E. Thomas Convention: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Logic 0 = low-to-high; Logic 1 = high-to-low transition.</a:t>
            </a:r>
            <a:endParaRPr lang="en-US" b="1" dirty="0"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1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76F5D-7B92-B38D-17DB-9909539F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3EA452-0E17-5D33-1E22-EC966A0FA402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800" b="1" i="0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G.E. Thomas Convention &amp; </a:t>
            </a:r>
            <a:r>
              <a:rPr lang="de-DE" sz="2800" b="1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IEEE 802.3 Ethernet Standard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C330E4-7871-DB30-52D4-D018A9793B60}"/>
              </a:ext>
            </a:extLst>
          </p:cNvPr>
          <p:cNvSpPr/>
          <p:nvPr/>
        </p:nvSpPr>
        <p:spPr>
          <a:xfrm>
            <a:off x="609597" y="1209821"/>
            <a:ext cx="8352973" cy="203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A7229D-6436-572B-1EE0-859C28F12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81"/>
            <a:ext cx="65" cy="430839"/>
          </a:xfrm>
          <a:prstGeom prst="rect">
            <a:avLst/>
          </a:prstGeom>
          <a:solidFill>
            <a:srgbClr val="15151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6176" rIns="0" bIns="7617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A7414BAE-0FDC-D656-4E08-089A7B92D9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355188" cy="135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F3842C-3B0C-54B2-6E9C-AEFA05CB0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7" y="1362647"/>
            <a:ext cx="6958585" cy="329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11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BECFA-8A0C-5D5E-E81B-29E5B78C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DBDDC8-448C-8010-3172-D0E7FB141C9B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NRZ-L &amp; RZ</a:t>
            </a:r>
          </a:p>
          <a:p>
            <a:pPr marL="0" indent="0">
              <a:lnSpc>
                <a:spcPts val="3240"/>
              </a:lnSpc>
              <a:buNone/>
            </a:pP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C74C4C-DC88-722C-9915-3A74D9F44362}"/>
              </a:ext>
            </a:extLst>
          </p:cNvPr>
          <p:cNvSpPr/>
          <p:nvPr/>
        </p:nvSpPr>
        <p:spPr>
          <a:xfrm>
            <a:off x="645888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1D743-6F3A-2A29-09D8-A106F69622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37" b="6437"/>
          <a:stretch/>
        </p:blipFill>
        <p:spPr>
          <a:xfrm>
            <a:off x="1707275" y="1249561"/>
            <a:ext cx="5887946" cy="1380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55537-DFA6-DB19-B1FA-1A8D908B05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4044" r="-2219"/>
          <a:stretch/>
        </p:blipFill>
        <p:spPr>
          <a:xfrm>
            <a:off x="1707275" y="2738051"/>
            <a:ext cx="6007520" cy="179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77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1B6C6-DADB-4AB7-AE3A-58E6BAD2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9E19F0-BFC8-74B8-1D54-309F6043A5AE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lang="en-US" sz="2800" b="1" dirty="0">
                <a:solidFill>
                  <a:srgbClr val="00B0F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Optimal Hybrid Solution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850ED3-C514-02EE-84F7-D0F8F5762965}"/>
              </a:ext>
            </a:extLst>
          </p:cNvPr>
          <p:cNvSpPr/>
          <p:nvPr/>
        </p:nvSpPr>
        <p:spPr>
          <a:xfrm>
            <a:off x="645888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Inherits Best of Both: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 NRZ-L: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Only 2 voltage levels → Simple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Implementation From RZ: </a:t>
            </a:r>
            <a:r>
              <a:rPr lang="en-US" b="0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Guaranteed mid-bit transitions → Perfect clock synchronization</a:t>
            </a:r>
          </a:p>
          <a:p>
            <a:pPr>
              <a:lnSpc>
                <a:spcPct val="150000"/>
              </a:lnSpc>
              <a:buSzPct val="100000"/>
            </a:pPr>
            <a:endParaRPr lang="en-US" dirty="0">
              <a:solidFill>
                <a:srgbClr val="F9FAF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Eliminates Worst Problems: 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NRZ-L's Flaw: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transitions during long runs → Clock sync lost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RZ's Flaw: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voltage levels needed → Complex, bandwidth-heavy</a:t>
            </a:r>
          </a:p>
        </p:txBody>
      </p:sp>
    </p:spTree>
    <p:extLst>
      <p:ext uri="{BB962C8B-B14F-4D97-AF65-F5344CB8AC3E}">
        <p14:creationId xmlns:p14="http://schemas.microsoft.com/office/powerpoint/2010/main" val="202911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Manchester Encoding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5888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Operation: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anche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 = Data XOR Clock.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Transitions: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least one transition per bit period ensures clock recovery.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DC Component: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Signal does not stay at high or low for extended periods.</a:t>
            </a:r>
            <a:endParaRPr lang="en-US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Synchronization: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Receiver can extract timing information from transitions.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Implementation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449127"/>
            <a:ext cx="792480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Arduino UNO.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Communication: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9600 baud.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Serial Plotter visualization.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Frequency: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Hz (1 second period).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Update Rate: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1 second.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33EA76-4B1C-6F8A-0D26-6950D446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884" y="1739127"/>
            <a:ext cx="3690017" cy="1771017"/>
          </a:xfrm>
          <a:prstGeom prst="rect">
            <a:avLst/>
          </a:prstGeom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Structure &amp; Variables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140557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Clock toggles every 500ms, data changes every 1 second, enabling clear visualization on Serial Plotter</a:t>
            </a:r>
            <a:endParaRPr lang="en-US" sz="108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C99607F-FB1B-5D6D-FE75-2A6FD8D7A346}"/>
              </a:ext>
            </a:extLst>
          </p:cNvPr>
          <p:cNvSpPr/>
          <p:nvPr/>
        </p:nvSpPr>
        <p:spPr>
          <a:xfrm>
            <a:off x="609600" y="1580557"/>
            <a:ext cx="4573368" cy="171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Timing parameters (OPTIMIZED FOR VISUALIZATION)</a:t>
            </a:r>
            <a:b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int CLOCK_HALF_PERIOD = 500;   // 500ms = 1Hz clock</a:t>
            </a:r>
            <a:b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int DATA_DURATION = 1000;       // Change data every 1 second</a:t>
            </a:r>
            <a:b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unsigned long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lastClockEdge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</a:t>
            </a:r>
            <a:b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unsigned long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lastDataChange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</a:t>
            </a:r>
          </a:p>
          <a:p>
            <a:pPr>
              <a:lnSpc>
                <a:spcPct val="150000"/>
              </a:lnSpc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clockState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</a:t>
            </a:r>
          </a:p>
          <a:p>
            <a:pPr>
              <a:lnSpc>
                <a:spcPct val="150000"/>
              </a:lnSpc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    (code structure variable)</a:t>
            </a:r>
            <a:endParaRPr lang="en-US" sz="108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Loop Logic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548604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Clock and data are generated independently, then combined via XOR operation</a:t>
            </a:r>
            <a:endParaRPr lang="en-US" sz="108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B30998-680D-4580-0829-389450801FCA}"/>
              </a:ext>
            </a:extLst>
          </p:cNvPr>
          <p:cNvSpPr/>
          <p:nvPr/>
        </p:nvSpPr>
        <p:spPr>
          <a:xfrm>
            <a:off x="609600" y="1260517"/>
            <a:ext cx="3985065" cy="29936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1. Clock Generation (1Hz: 500ms high, 500ms low)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(now -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lastClockEdge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CLOCK_HALF_PERIOD) {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clockState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!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clockState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lastClockEdge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now;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080" b="1" dirty="0">
              <a:solidFill>
                <a:schemeClr val="bg1">
                  <a:lumMod val="9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2. Data Generation (changes every 1 second)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(now -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lastDataChange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DATA_DURATION) {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!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lastDataChange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now;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080" b="1" dirty="0">
              <a:solidFill>
                <a:schemeClr val="bg1">
                  <a:lumMod val="9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3. Manchester Encoding (XOR)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^ 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clockState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   (Arduino loop logic)</a:t>
            </a:r>
            <a:endParaRPr lang="en-US" sz="108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Data Output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618077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Format: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traces visualized simultaneously with vertical offsets for clarity</a:t>
            </a:r>
            <a:endParaRPr lang="en-US" sz="108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6E0475-9E8F-A5B2-449B-0DF7B6F39E01}"/>
              </a:ext>
            </a:extLst>
          </p:cNvPr>
          <p:cNvSpPr/>
          <p:nvPr/>
        </p:nvSpPr>
        <p:spPr>
          <a:xfrm>
            <a:off x="609600" y="1580557"/>
            <a:ext cx="3582712" cy="19675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Send to Serial Plotter (with offsets for visualization)</a:t>
            </a:r>
          </a:p>
          <a:p>
            <a:pPr>
              <a:lnSpc>
                <a:spcPct val="150000"/>
              </a:lnSpc>
            </a:pP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Serial.print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dataBit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             // Data (0 or 1)</a:t>
            </a:r>
          </a:p>
          <a:p>
            <a:pPr>
              <a:lnSpc>
                <a:spcPct val="150000"/>
              </a:lnSpc>
            </a:pP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Serial.print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 ");</a:t>
            </a:r>
          </a:p>
          <a:p>
            <a:pPr>
              <a:lnSpc>
                <a:spcPct val="150000"/>
              </a:lnSpc>
            </a:pP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Serial.print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clockState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+ 2);       // Clock (2 or 3)</a:t>
            </a:r>
          </a:p>
          <a:p>
            <a:pPr>
              <a:lnSpc>
                <a:spcPct val="150000"/>
              </a:lnSpc>
            </a:pP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Serial.print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 ");</a:t>
            </a:r>
          </a:p>
          <a:p>
            <a:pPr>
              <a:lnSpc>
                <a:spcPct val="150000"/>
              </a:lnSpc>
            </a:pP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Serial.println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080" b="1" dirty="0" err="1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</a:t>
            </a: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+ 4);     // Manchester (4 or 5)</a:t>
            </a:r>
          </a:p>
          <a:p>
            <a:pPr>
              <a:lnSpc>
                <a:spcPct val="150000"/>
              </a:lnSpc>
            </a:pPr>
            <a:endParaRPr lang="en-US" sz="1080" b="1" dirty="0">
              <a:solidFill>
                <a:schemeClr val="bg1">
                  <a:lumMod val="95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108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delay(100);  // Update every 100ms (serial data output)</a:t>
            </a:r>
            <a:endParaRPr lang="en-US" sz="108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Steps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code to Arduino UNO via USB cable.</a:t>
            </a:r>
            <a:endParaRPr lang="en-US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Tools → Serial Monitor (9600 baud rate).</a:t>
            </a:r>
            <a:endParaRPr lang="en-US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Tools → Serial Plotter to visualize signals.</a:t>
            </a:r>
            <a:endParaRPr lang="en-US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three traces: Data, Clock, and Manchester-encoded output.</a:t>
            </a:r>
            <a:endParaRPr lang="en-US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timing of transitions at bit centers.</a:t>
            </a:r>
            <a:endParaRPr lang="en-US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XOR operation: output matches data ⊕ clock.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94308-8B16-2D94-0C64-75659B14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D41BAA-8E38-4413-F23D-33200992478D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Mathematical Modeling</a:t>
            </a:r>
            <a:endParaRPr lang="en-US" sz="27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3E3C278A-1FD5-9F23-DEE7-18086F45580B}"/>
                  </a:ext>
                </a:extLst>
              </p:cNvPr>
              <p:cNvSpPr/>
              <p:nvPr/>
            </p:nvSpPr>
            <p:spPr>
              <a:xfrm>
                <a:off x="914400" y="1249561"/>
                <a:ext cx="7620000" cy="2422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200000"/>
                  </a:lnSpc>
                  <a:buSzPct val="100000"/>
                </a:pPr>
                <a:r>
                  <a:rPr lang="en-US">
                    <a:solidFill>
                      <a:srgbClr val="CBD5E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</a:p>
              <a:p>
                <a:pPr algn="ctr">
                  <a:lnSpc>
                    <a:spcPct val="200000"/>
                  </a:lnSpc>
                  <a:buSzPct val="10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38BDF8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38BDF8"/>
                              </a:solidFill>
                              <a:latin typeface="Cambria Math" panose="02040503050406030204" pitchFamily="18" charset="0"/>
                              <a:ea typeface="Arial" pitchFamily="34" charset="-122"/>
                              <a:cs typeface="Arial" pitchFamily="34" charset="-12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𝐷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Arial" pitchFamily="34" charset="-122"/>
                          <a:cs typeface="Arial" pitchFamily="34" charset="-120"/>
                        </a:rPr>
                        <m:t>)⊕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𝐶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38BDF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itchFamily="34" charset="-120"/>
                        </a:rPr>
                        <m:t>)</m:t>
                      </m:r>
                    </m:oMath>
                  </m:oMathPara>
                </a14:m>
                <a:endParaRPr lang="en-US">
                  <a:solidFill>
                    <a:srgbClr val="38BD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 algn="ctr"/>
                <a:endParaRPr lang="en-US" sz="120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1100">
                    <a:solidFill>
                      <a:schemeClr val="bg1"/>
                    </a:solidFill>
                  </a:rPr>
                  <a:t>Manchester encoding is modeled as an </a:t>
                </a:r>
                <a:r>
                  <a:rPr lang="en-US" sz="1100" b="1">
                    <a:solidFill>
                      <a:schemeClr val="bg1"/>
                    </a:solidFill>
                  </a:rPr>
                  <a:t>Exclusive-OR (XOR)</a:t>
                </a:r>
                <a:r>
                  <a:rPr lang="en-US" sz="1100">
                    <a:solidFill>
                      <a:schemeClr val="bg1"/>
                    </a:solidFill>
                  </a:rPr>
                  <a:t> operation. When Data is High (1), the output is the inverse of the Clock.</a:t>
                </a:r>
              </a:p>
              <a:p>
                <a:br>
                  <a:rPr lang="en-US"/>
                </a:br>
                <a:endParaRPr lang="en-US">
                  <a:solidFill>
                    <a:srgbClr val="38BD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endParaRPr>
              </a:p>
              <a:p>
                <a:pPr marL="342900" indent="-342900">
                  <a:lnSpc>
                    <a:spcPct val="200000"/>
                  </a:lnSpc>
                  <a:buSzPct val="100000"/>
                  <a:buChar char="•"/>
                </a:pPr>
                <a:endParaRPr lang="en-US"/>
              </a:p>
            </p:txBody>
          </p:sp>
        </mc:Choice>
        <mc:Fallback>
          <p:sp>
            <p:nvSpPr>
              <p:cNvPr id="3" name="Text 1">
                <a:extLst>
                  <a:ext uri="{FF2B5EF4-FFF2-40B4-BE49-F238E27FC236}">
                    <a16:creationId xmlns:a16="http://schemas.microsoft.com/office/drawing/2014/main" id="{3E3C278A-1FD5-9F23-DEE7-18086F455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49561"/>
                <a:ext cx="7620000" cy="24226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029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D3AD6-DC6F-1BAF-A87E-0A380DD2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84F622-13B6-0CD3-DA09-DFCBF29DCF6F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Mathematical Modeling</a:t>
            </a: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240"/>
              </a:lnSpc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240"/>
              </a:lnSpc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3240"/>
              </a:lnSpc>
            </a:pPr>
            <a:endParaRPr lang="en-US" sz="1100">
              <a:solidFill>
                <a:schemeClr val="bg1"/>
              </a:solidFill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11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 b="1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7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660685-C02F-A278-D12B-FD77215A8489}"/>
              </a:ext>
            </a:extLst>
          </p:cNvPr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00000"/>
              </a:lnSpc>
              <a:buSzPct val="100000"/>
            </a:pPr>
            <a:endParaRPr lang="en-US">
              <a:solidFill>
                <a:srgbClr val="38BD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endParaRPr lang="en-US" sz="1200">
              <a:solidFill>
                <a:schemeClr val="bg1"/>
              </a:solidFill>
            </a:endParaRPr>
          </a:p>
          <a:p>
            <a:pPr algn="ctr"/>
            <a:endParaRPr lang="en-US" sz="1100">
              <a:solidFill>
                <a:schemeClr val="bg1"/>
              </a:solidFill>
            </a:endParaRPr>
          </a:p>
          <a:p>
            <a:br>
              <a:rPr lang="en-US"/>
            </a:br>
            <a:endParaRPr lang="en-US">
              <a:solidFill>
                <a:srgbClr val="38BD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5A97CA-3F3A-8A6C-C383-29338B9E1F49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249560"/>
          <a:ext cx="7924800" cy="3284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62008166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06897215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1075009866"/>
                    </a:ext>
                  </a:extLst>
                </a:gridCol>
              </a:tblGrid>
              <a:tr h="65686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Input Data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Clock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Manchester Encoded</a:t>
                      </a:r>
                    </a:p>
                    <a:p>
                      <a:pPr algn="ctr"/>
                      <a:r>
                        <a:rPr lang="en-US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420757"/>
                  </a:ext>
                </a:extLst>
              </a:tr>
              <a:tr h="65686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533683"/>
                  </a:ext>
                </a:extLst>
              </a:tr>
              <a:tr h="65686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399951"/>
                  </a:ext>
                </a:extLst>
              </a:tr>
              <a:tr h="65686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688117"/>
                  </a:ext>
                </a:extLst>
              </a:tr>
              <a:tr h="65686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59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459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Plotter Visualization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4381500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signal (0-1) | </a:t>
            </a: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Clock signal (2-3) | </a:t>
            </a: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Gray:</a:t>
            </a: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Manchester output (4-5)</a:t>
            </a:r>
            <a:endParaRPr lang="en-US" sz="108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DDCC80-AE48-BCC1-C452-681B1C491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910" y="1110188"/>
            <a:ext cx="6012180" cy="30925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24955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240580"/>
              </p:ext>
            </p:extLst>
          </p:nvPr>
        </p:nvGraphicFramePr>
        <p:xfrm>
          <a:off x="838200" y="1478161"/>
          <a:ext cx="7467600" cy="2038350"/>
        </p:xfrm>
        <a:graphic>
          <a:graphicData uri="http://schemas.openxmlformats.org/drawingml/2006/table">
            <a:tbl>
              <a:tblPr/>
              <a:tblGrid>
                <a:gridCol w="1614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3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38BDF8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Bit Value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38BDF8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Transition Type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38BDF8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Description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1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CBD5E1"/>
                          </a:solidFill>
                          <a:latin typeface="Arial"/>
                        </a:rPr>
                        <a:t>High-to-Low ↓</a:t>
                      </a:r>
                      <a:endParaRPr lang="en-US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Transition downward at bit center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charset="0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Low-to-High ↑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Transition upward at bit center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charset="0"/>
                          <a:cs typeface="Arial"/>
                        </a:rPr>
                        <a:t>1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High-to-Low ↓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Transition downward at bit center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charset="0"/>
                          <a:cs typeface="Arial"/>
                        </a:rPr>
                        <a:t>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Low-to-High ↑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Transition upward at bit center</a:t>
                      </a:r>
                      <a:endParaRPr lang="en-US" sz="18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/>
                <a:ea typeface="Arial" pitchFamily="34" charset="-122"/>
                <a:cs typeface="Arial"/>
              </a:rPr>
              <a:t>Encoding Example: Binary "1010"</a:t>
            </a:r>
            <a:endParaRPr lang="en-US"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99" y="1249561"/>
            <a:ext cx="8083295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XOR Logic: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Manchester = Data ⊕ Clock.</a:t>
            </a:r>
            <a:endParaRPr lang="en-US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Self-Clocking: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Receiver extracts clock from transitions.</a:t>
            </a:r>
            <a:endParaRPr lang="en-US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Density: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transitions ensure synchronization.</a:t>
            </a:r>
            <a:endParaRPr lang="en-US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Biphase Code: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bit encoded as 90° phase shift (positive or negative).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612648"/>
            <a:ext cx="2532681" cy="4154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489560"/>
            <a:ext cx="7443751" cy="244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5715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encoding combines clock and data signals using XOR operation</a:t>
            </a:r>
            <a:r>
              <a:rPr lang="en-US" dirty="0"/>
              <a:t> 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self-clocking, error detection, and improved synchronization</a:t>
            </a:r>
            <a:r>
              <a:rPr lang="en-US" dirty="0"/>
              <a:t> 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digital communication systems and embedded applications.</a:t>
            </a:r>
          </a:p>
          <a:p>
            <a:pPr marL="5715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Serial Plotter effectively visualizes all three signals simultaneously.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3848100" cy="12077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86300" y="1249561"/>
            <a:ext cx="3848100" cy="120774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2685901"/>
            <a:ext cx="3848100" cy="104581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86300" y="2685901"/>
            <a:ext cx="3848100" cy="104581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838200" y="147816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Self-Clocking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838200" y="1904851"/>
            <a:ext cx="3390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clock signal needed, reduces wiring complexity.</a:t>
            </a:r>
            <a:endParaRPr lang="en-US" sz="1140"/>
          </a:p>
        </p:txBody>
      </p:sp>
      <p:sp>
        <p:nvSpPr>
          <p:cNvPr id="9" name="Text 7"/>
          <p:cNvSpPr/>
          <p:nvPr/>
        </p:nvSpPr>
        <p:spPr>
          <a:xfrm>
            <a:off x="4914900" y="147816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Detection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4914900" y="1904851"/>
            <a:ext cx="3458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transitions indicate transmission errors.</a:t>
            </a:r>
            <a:endParaRPr lang="en-US" sz="1140"/>
          </a:p>
        </p:txBody>
      </p:sp>
      <p:sp>
        <p:nvSpPr>
          <p:cNvPr id="11" name="Text 9"/>
          <p:cNvSpPr/>
          <p:nvPr/>
        </p:nvSpPr>
        <p:spPr>
          <a:xfrm>
            <a:off x="838200" y="291450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 Coupling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38200" y="3341191"/>
            <a:ext cx="3458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DC component allows galvanic isolation.</a:t>
            </a:r>
            <a:endParaRPr lang="en-US" sz="1140"/>
          </a:p>
        </p:txBody>
      </p:sp>
      <p:sp>
        <p:nvSpPr>
          <p:cNvPr id="13" name="Text 11"/>
          <p:cNvSpPr/>
          <p:nvPr/>
        </p:nvSpPr>
        <p:spPr>
          <a:xfrm>
            <a:off x="4914900" y="2914501"/>
            <a:ext cx="345871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Reliability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4914900" y="3341191"/>
            <a:ext cx="34587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synchronization and noise immunity.</a:t>
            </a:r>
            <a:endParaRPr lang="en-US" sz="11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38631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Overhead:</a:t>
            </a: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twice the bandwidth of NRZ (Non-Return-to-Zero) encoding.</a:t>
            </a:r>
            <a:endParaRPr lang="en-US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Data Rate:</a:t>
            </a: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half the data rate of unencoded signals at same frequency.</a:t>
            </a:r>
            <a:endParaRPr lang="en-US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Consumption:</a:t>
            </a: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Frequent transitions result in higher power consumption.</a:t>
            </a:r>
            <a:endParaRPr lang="en-US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Limitation:</a:t>
            </a:r>
            <a:r>
              <a:rPr lang="en-US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suitable for long-distance transmission due to signal attenuation.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3496" y="1746945"/>
            <a:ext cx="60570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Encoding</a:t>
            </a:r>
            <a:endParaRPr lang="en-US" sz="4500"/>
          </a:p>
        </p:txBody>
      </p:sp>
      <p:sp>
        <p:nvSpPr>
          <p:cNvPr id="3" name="Text 1"/>
          <p:cNvSpPr/>
          <p:nvPr/>
        </p:nvSpPr>
        <p:spPr>
          <a:xfrm>
            <a:off x="3707322" y="2585145"/>
            <a:ext cx="17292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Reliable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3611987" y="3209925"/>
            <a:ext cx="19200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Communication Systems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222021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Manchester Encoding is Reliable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Mid-bit Transitions: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receiver recover clock and stay synchronized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Sharply Reduces Errors: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Minimizes timing errors and bit slips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Pattern Detection: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Transition pattern exposes errors immediately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DC-Balanced: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Improves robustness over noisy AC-coupled channels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Applications:</a:t>
            </a: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Used in Ethernet, RFID, and NFC systems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01720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Encoding successfully combines data and clock into a single signal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implementation demonstrates XOR operation producing synchronized transitions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clock infrastructure needed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Self-clocking property and error detection make it superior for synchronized data transfer</a:t>
            </a:r>
            <a:endParaRPr lang="en-US" sz="135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 50% bandwidth efficiency loss, higher power consumption, sensitivity to channel noise</a:t>
            </a:r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4292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2539901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301901" y="1249561"/>
            <a:ext cx="254005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94350" y="1249561"/>
            <a:ext cx="2539901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2941171"/>
            <a:ext cx="2539901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01901" y="2941171"/>
            <a:ext cx="254005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94350" y="2941171"/>
            <a:ext cx="2539901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700"/>
          </a:p>
        </p:txBody>
      </p:sp>
      <p:sp>
        <p:nvSpPr>
          <p:cNvPr id="9" name="Text 7"/>
          <p:cNvSpPr/>
          <p:nvPr/>
        </p:nvSpPr>
        <p:spPr>
          <a:xfrm>
            <a:off x="838200" y="14781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838200" y="1866751"/>
            <a:ext cx="2082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10BASE-T and legacy Ethernet networks.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530501" y="147816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RFID/NFC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3530501" y="1866751"/>
            <a:ext cx="2082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frequency identification and near-field communication.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222950" y="147816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Protocols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222950" y="1866751"/>
            <a:ext cx="2124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Infrared remote control systems.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838200" y="316977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Ring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838200" y="3558361"/>
            <a:ext cx="2124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802.5 network protocol.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3530501" y="3169771"/>
            <a:ext cx="212450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Storage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3530501" y="3558361"/>
            <a:ext cx="2082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 drives and magnetic drum storage.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6222950" y="3169771"/>
            <a:ext cx="21243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Systems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6222950" y="3558361"/>
            <a:ext cx="2124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Voyager spacecraft telemetry.</a:t>
            </a:r>
            <a:endParaRPr 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1BDAA-4DF0-074D-4EE7-F26C28E2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19D2C4-07B4-8517-A5A7-09E20CB32E2E}"/>
              </a:ext>
            </a:extLst>
          </p:cNvPr>
          <p:cNvSpPr/>
          <p:nvPr/>
        </p:nvSpPr>
        <p:spPr>
          <a:xfrm>
            <a:off x="1854173" y="1956197"/>
            <a:ext cx="5435655" cy="12311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Thank You.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588783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402" y="2049810"/>
            <a:ext cx="256519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2622524" y="2826990"/>
            <a:ext cx="3898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Encoding System - Q&amp;A Session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7570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0F243E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</TotalTime>
  <Words>1229</Words>
  <Application>Microsoft Office PowerPoint</Application>
  <PresentationFormat>On-screen Show (16:9)</PresentationFormat>
  <Paragraphs>234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Meherin Mashri</cp:lastModifiedBy>
  <cp:revision>5</cp:revision>
  <dcterms:created xsi:type="dcterms:W3CDTF">2026-01-09T07:42:21Z</dcterms:created>
  <dcterms:modified xsi:type="dcterms:W3CDTF">2026-01-10T18:35:57Z</dcterms:modified>
</cp:coreProperties>
</file>